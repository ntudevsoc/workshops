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9" r:id="rId7"/>
    <p:sldId id="261" r:id="rId8"/>
    <p:sldId id="260"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1" autoAdjust="0"/>
    <p:restoredTop sz="94660"/>
  </p:normalViewPr>
  <p:slideViewPr>
    <p:cSldViewPr snapToGrid="0">
      <p:cViewPr varScale="1">
        <p:scale>
          <a:sx n="61" d="100"/>
          <a:sy n="61" d="100"/>
        </p:scale>
        <p:origin x="56"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1CF3E-32B6-5A23-45F4-18C14272EA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AD253A-A795-2E0D-A7B8-7A0CF5C83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123D7C0-F7E5-9AA6-EF99-9FF408E80CB9}"/>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5" name="Footer Placeholder 4">
            <a:extLst>
              <a:ext uri="{FF2B5EF4-FFF2-40B4-BE49-F238E27FC236}">
                <a16:creationId xmlns:a16="http://schemas.microsoft.com/office/drawing/2014/main" id="{80609A50-E410-D6DC-BB50-848BB36EBF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9F5587-1EB2-B01E-C6DD-BB7E0EBB981F}"/>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1554989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4AEF5-9209-80D1-CDD6-A7DD34E4D7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164323-4D4B-6FA6-F5B3-38FAB92A14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2AA576-CF96-AFDD-C01A-6235446D5EA3}"/>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5" name="Footer Placeholder 4">
            <a:extLst>
              <a:ext uri="{FF2B5EF4-FFF2-40B4-BE49-F238E27FC236}">
                <a16:creationId xmlns:a16="http://schemas.microsoft.com/office/drawing/2014/main" id="{A3F7F42E-5B22-B712-970F-9D2521A394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703BB1-463F-36F1-88D4-D0987AF44DC3}"/>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2160231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050C-1CFB-356E-2C94-7D155BF4EB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0BE6877-3436-0469-CDC2-9880381BF6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A7FE86-5EA5-1CB1-C831-DE80E0B4A2FE}"/>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5" name="Footer Placeholder 4">
            <a:extLst>
              <a:ext uri="{FF2B5EF4-FFF2-40B4-BE49-F238E27FC236}">
                <a16:creationId xmlns:a16="http://schemas.microsoft.com/office/drawing/2014/main" id="{E8D15DB8-7A13-A552-94EA-47AE64AFEE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354C28-2D31-659E-F6EA-02791B18083B}"/>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2544639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EB644-C522-3320-B6D8-698C91922B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95E5924-D3C2-FAE6-93F3-98596250A6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74F3BD3-9052-93C2-887D-44E56D4E31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DD51E49-6A2C-C890-8B4B-FF457846B547}"/>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6" name="Footer Placeholder 5">
            <a:extLst>
              <a:ext uri="{FF2B5EF4-FFF2-40B4-BE49-F238E27FC236}">
                <a16:creationId xmlns:a16="http://schemas.microsoft.com/office/drawing/2014/main" id="{3E2433DA-D1CE-2F29-F37E-D879CBAB59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5185F94-7074-1F5A-37B4-F5103E1A8F9B}"/>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423666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0749-E0AF-D1B5-395E-7653A355EF2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09AD5A-D65E-67A4-78A5-14BD091247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C928A1-BCB6-3D4D-1AA4-6F1F793B41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33CF327-7768-CC58-3538-2F31ABF009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37CB9F-DF55-7289-FFB7-326641B0C0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596CE95-2504-BA67-719F-0C2926021DA4}"/>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8" name="Footer Placeholder 7">
            <a:extLst>
              <a:ext uri="{FF2B5EF4-FFF2-40B4-BE49-F238E27FC236}">
                <a16:creationId xmlns:a16="http://schemas.microsoft.com/office/drawing/2014/main" id="{EF9C5172-AD57-8A8D-8933-2A9D0057D32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8AD42C-B40F-1C24-F110-6170DBA80D92}"/>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3778444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B04DD-5041-4343-9CB0-9DFF7F214CC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5076A4A-0CE4-8D33-87E6-07E49CA1E9AD}"/>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4" name="Footer Placeholder 3">
            <a:extLst>
              <a:ext uri="{FF2B5EF4-FFF2-40B4-BE49-F238E27FC236}">
                <a16:creationId xmlns:a16="http://schemas.microsoft.com/office/drawing/2014/main" id="{E6FF93BA-F15F-393B-A52E-AE0BF2D427B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ED214F2-2F3A-CD65-A1A8-CB440D5B8650}"/>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2788330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D6AA35-A93C-C54E-8937-C3C4523B57C4}"/>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3" name="Footer Placeholder 2">
            <a:extLst>
              <a:ext uri="{FF2B5EF4-FFF2-40B4-BE49-F238E27FC236}">
                <a16:creationId xmlns:a16="http://schemas.microsoft.com/office/drawing/2014/main" id="{2A273AD9-22B5-7119-4288-705F26C5CE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AE1F516-B052-A417-E77B-5275FDC481C2}"/>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1662737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CC586-E87D-C102-2CBF-C244D996D5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356B746-C575-297E-6CCE-FA6703D268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6747638-9D5B-4742-9F00-2D3AA6A873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5ADF6-57C6-801C-EB0D-ED06CDA0967B}"/>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6" name="Footer Placeholder 5">
            <a:extLst>
              <a:ext uri="{FF2B5EF4-FFF2-40B4-BE49-F238E27FC236}">
                <a16:creationId xmlns:a16="http://schemas.microsoft.com/office/drawing/2014/main" id="{CA3304EC-CB46-6BAB-2288-98B0F9A1EC5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9A998AC-A5D9-7C6B-F0A8-73DFFEBA3C06}"/>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3114847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8B2A-BE60-F8B8-86FD-DCB976199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F11C92D-2AAB-83B0-A523-7C518C0F4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DAD951F-A5B1-C41D-3853-6DCF66A8E8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8EA3A7-C98E-3EBB-F860-44C53A49FDD5}"/>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6" name="Footer Placeholder 5">
            <a:extLst>
              <a:ext uri="{FF2B5EF4-FFF2-40B4-BE49-F238E27FC236}">
                <a16:creationId xmlns:a16="http://schemas.microsoft.com/office/drawing/2014/main" id="{E5AC97C8-5F59-2FFD-9FBF-BAEF53B6EA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DB20237-4B15-2A65-9E80-8FE20003C286}"/>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3521715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CFB2B-79AE-BA08-4EDB-4E9BC916BDD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CEE3F78-2C8D-27D0-1AF7-A43DAA18AB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E11603-414D-721F-0C80-9EF3B7B1F008}"/>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5" name="Footer Placeholder 4">
            <a:extLst>
              <a:ext uri="{FF2B5EF4-FFF2-40B4-BE49-F238E27FC236}">
                <a16:creationId xmlns:a16="http://schemas.microsoft.com/office/drawing/2014/main" id="{32E85D5C-07F2-DAC4-3C3F-73E44FCAC1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5D8FEE-5516-B4DE-374B-4E46CE0510C5}"/>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42376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55B7B1-C53D-5D4D-CE3E-A1BF47A25E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457F44-BA4D-7526-7BD6-F1AF312994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0CC5A6-FDF7-141C-861E-FFF174E1E8DF}"/>
              </a:ext>
            </a:extLst>
          </p:cNvPr>
          <p:cNvSpPr>
            <a:spLocks noGrp="1"/>
          </p:cNvSpPr>
          <p:nvPr>
            <p:ph type="dt" sz="half" idx="10"/>
          </p:nvPr>
        </p:nvSpPr>
        <p:spPr/>
        <p:txBody>
          <a:bodyPr/>
          <a:lstStyle/>
          <a:p>
            <a:fld id="{5159078F-DA75-4D5E-9B40-522E05DA9E3A}" type="datetimeFigureOut">
              <a:rPr lang="en-GB" smtClean="0"/>
              <a:t>27/03/2026</a:t>
            </a:fld>
            <a:endParaRPr lang="en-GB"/>
          </a:p>
        </p:txBody>
      </p:sp>
      <p:sp>
        <p:nvSpPr>
          <p:cNvPr id="5" name="Footer Placeholder 4">
            <a:extLst>
              <a:ext uri="{FF2B5EF4-FFF2-40B4-BE49-F238E27FC236}">
                <a16:creationId xmlns:a16="http://schemas.microsoft.com/office/drawing/2014/main" id="{EC5F6512-7609-58BA-9888-07A771BFDD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E0DB47-A1DA-802D-1566-7BFEFBF611A6}"/>
              </a:ext>
            </a:extLst>
          </p:cNvPr>
          <p:cNvSpPr>
            <a:spLocks noGrp="1"/>
          </p:cNvSpPr>
          <p:nvPr>
            <p:ph type="sldNum" sz="quarter" idx="12"/>
          </p:nvPr>
        </p:nvSpPr>
        <p:spPr/>
        <p:txBody>
          <a:bodyPr/>
          <a:lstStyle/>
          <a:p>
            <a:fld id="{F78BA755-15D5-4EA9-9FE0-840E8E8042FE}" type="slidenum">
              <a:rPr lang="en-GB" smtClean="0"/>
              <a:t>‹#›</a:t>
            </a:fld>
            <a:endParaRPr lang="en-GB"/>
          </a:p>
        </p:txBody>
      </p:sp>
    </p:spTree>
    <p:extLst>
      <p:ext uri="{BB962C8B-B14F-4D97-AF65-F5344CB8AC3E}">
        <p14:creationId xmlns:p14="http://schemas.microsoft.com/office/powerpoint/2010/main" val="3346988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8C34-50D3-66D5-B495-34F024CE90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E3F658B-93ED-93B5-A74D-5076D69102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4AE096-959F-FB63-926B-B394CD859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59078F-DA75-4D5E-9B40-522E05DA9E3A}" type="datetimeFigureOut">
              <a:rPr lang="en-GB" smtClean="0"/>
              <a:t>27/03/2026</a:t>
            </a:fld>
            <a:endParaRPr lang="en-GB"/>
          </a:p>
        </p:txBody>
      </p:sp>
      <p:sp>
        <p:nvSpPr>
          <p:cNvPr id="5" name="Footer Placeholder 4">
            <a:extLst>
              <a:ext uri="{FF2B5EF4-FFF2-40B4-BE49-F238E27FC236}">
                <a16:creationId xmlns:a16="http://schemas.microsoft.com/office/drawing/2014/main" id="{DD9B14A3-5D41-A043-F3AA-ACA0B828F5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70B597A-BE88-640B-1E53-DF3CD36FB1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8BA755-15D5-4EA9-9FE0-840E8E8042FE}" type="slidenum">
              <a:rPr lang="en-GB" smtClean="0"/>
              <a:t>‹#›</a:t>
            </a:fld>
            <a:endParaRPr lang="en-GB"/>
          </a:p>
        </p:txBody>
      </p:sp>
    </p:spTree>
    <p:extLst>
      <p:ext uri="{BB962C8B-B14F-4D97-AF65-F5344CB8AC3E}">
        <p14:creationId xmlns:p14="http://schemas.microsoft.com/office/powerpoint/2010/main" val="3543004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NTUDevSoc/Workshops"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neetcode.io/practice/practice/neetcode150" TargetMode="External"/><Relationship Id="rId4" Type="http://schemas.openxmlformats.org/officeDocument/2006/relationships/hyperlink" Target="https://youtu.be/O9v10jQkm5c"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ython.org/downloads/" TargetMode="Externa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hyperlink" Target="https://code.visualstudio.com/download"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NTUDevSoc/FYPythonWorkshop_26.11.2025" TargetMode="External"/><Relationship Id="rId7" Type="http://schemas.openxmlformats.org/officeDocument/2006/relationships/hyperlink" Target="https://www.youtube.com/watch?v=cHYq1MRoyI0"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monkeytype.com/" TargetMode="External"/><Relationship Id="rId5" Type="http://schemas.openxmlformats.org/officeDocument/2006/relationships/hyperlink" Target="https://tinyurl.com/y2v3fam6/" TargetMode="External"/><Relationship Id="rId4" Type="http://schemas.openxmlformats.org/officeDocument/2006/relationships/hyperlink" Target="https://www.w3schools.com/pytho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a:extLst>
              <a:ext uri="{FF2B5EF4-FFF2-40B4-BE49-F238E27FC236}">
                <a16:creationId xmlns:a16="http://schemas.microsoft.com/office/drawing/2014/main" id="{2A638C7D-9088-41A9-88A0-7357157BC1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31180" y="1109243"/>
            <a:ext cx="4842710" cy="4842710"/>
            <a:chOff x="1881974" y="1174396"/>
            <a:chExt cx="5290997" cy="5290997"/>
          </a:xfrm>
        </p:grpSpPr>
        <p:sp>
          <p:nvSpPr>
            <p:cNvPr id="44" name="Oval 43">
              <a:extLst>
                <a:ext uri="{FF2B5EF4-FFF2-40B4-BE49-F238E27FC236}">
                  <a16:creationId xmlns:a16="http://schemas.microsoft.com/office/drawing/2014/main" id="{9714B173-1D32-4BBC-A685-1F5D257ABD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BEF82DD1-2343-4F41-B6A7-A6489A713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Oval 46">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0270" y="1095407"/>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DEAA94-01BE-98C5-8E02-7E47CCF966EB}"/>
              </a:ext>
            </a:extLst>
          </p:cNvPr>
          <p:cNvSpPr>
            <a:spLocks noGrp="1"/>
          </p:cNvSpPr>
          <p:nvPr>
            <p:ph type="ctrTitle"/>
          </p:nvPr>
        </p:nvSpPr>
        <p:spPr>
          <a:xfrm>
            <a:off x="5644751" y="568517"/>
            <a:ext cx="6161004" cy="886379"/>
          </a:xfrm>
        </p:spPr>
        <p:txBody>
          <a:bodyPr vert="horz" lIns="91440" tIns="45720" rIns="91440" bIns="45720" rtlCol="0" anchor="ctr">
            <a:normAutofit/>
          </a:bodyPr>
          <a:lstStyle/>
          <a:p>
            <a:pPr algn="l"/>
            <a:r>
              <a:rPr lang="en-US" sz="2800" kern="1200">
                <a:solidFill>
                  <a:schemeClr val="bg1"/>
                </a:solidFill>
                <a:latin typeface="+mj-lt"/>
                <a:ea typeface="+mj-ea"/>
                <a:cs typeface="+mj-cs"/>
              </a:rPr>
              <a:t>Data Structures &amp; Algorithms Workshop</a:t>
            </a:r>
          </a:p>
        </p:txBody>
      </p:sp>
      <p:grpSp>
        <p:nvGrpSpPr>
          <p:cNvPr id="49" name="Group 48">
            <a:extLst>
              <a:ext uri="{FF2B5EF4-FFF2-40B4-BE49-F238E27FC236}">
                <a16:creationId xmlns:a16="http://schemas.microsoft.com/office/drawing/2014/main" id="{3F219210-B16A-47B6-9AA8-207DAFF37E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50" name="Freeform: Shape 49">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51" name="Freeform: Shape 50">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pic>
        <p:nvPicPr>
          <p:cNvPr id="4" name="Picture 3" descr="A white letter on a blue background&#10;&#10;AI-generated content may be incorrect.">
            <a:extLst>
              <a:ext uri="{FF2B5EF4-FFF2-40B4-BE49-F238E27FC236}">
                <a16:creationId xmlns:a16="http://schemas.microsoft.com/office/drawing/2014/main" id="{F417C9CA-E8B9-7A5F-B50B-B4DF2F9F4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9077" y="1864214"/>
            <a:ext cx="3217333" cy="3217333"/>
          </a:xfrm>
          <a:prstGeom prst="rect">
            <a:avLst/>
          </a:prstGeom>
        </p:spPr>
      </p:pic>
      <p:sp>
        <p:nvSpPr>
          <p:cNvPr id="5" name="Subtitle 2">
            <a:extLst>
              <a:ext uri="{FF2B5EF4-FFF2-40B4-BE49-F238E27FC236}">
                <a16:creationId xmlns:a16="http://schemas.microsoft.com/office/drawing/2014/main" id="{A21CD99E-0F76-222C-7FD1-B6C33D260B5B}"/>
              </a:ext>
            </a:extLst>
          </p:cNvPr>
          <p:cNvSpPr txBox="1">
            <a:spLocks/>
          </p:cNvSpPr>
          <p:nvPr/>
        </p:nvSpPr>
        <p:spPr>
          <a:xfrm>
            <a:off x="6234868" y="1820369"/>
            <a:ext cx="5217173"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buFont typeface="Arial" panose="020B0604020202020204" pitchFamily="34" charset="0"/>
              <a:buChar char="•"/>
            </a:pPr>
            <a:r>
              <a:rPr lang="en-US">
                <a:solidFill>
                  <a:schemeClr val="bg1"/>
                </a:solidFill>
              </a:rPr>
              <a:t>Link to repository:</a:t>
            </a:r>
          </a:p>
          <a:p>
            <a:pPr indent="-228600" algn="l">
              <a:buFont typeface="Arial" panose="020B0604020202020204" pitchFamily="34" charset="0"/>
              <a:buChar char="•"/>
            </a:pPr>
            <a:r>
              <a:rPr lang="en-US">
                <a:solidFill>
                  <a:schemeClr val="bg1"/>
                </a:solidFill>
                <a:hlinkClick r:id="rId3"/>
              </a:rPr>
              <a:t>https://github.com/NTUDevSoc/Workshops</a:t>
            </a:r>
            <a:endParaRPr lang="en-US">
              <a:solidFill>
                <a:schemeClr val="bg1"/>
              </a:solidFill>
            </a:endParaRPr>
          </a:p>
          <a:p>
            <a:pPr indent="-228600" algn="l">
              <a:buFont typeface="Arial" panose="020B0604020202020204" pitchFamily="34" charset="0"/>
              <a:buChar char="•"/>
            </a:pPr>
            <a:r>
              <a:rPr lang="en-US">
                <a:solidFill>
                  <a:schemeClr val="bg1"/>
                </a:solidFill>
              </a:rPr>
              <a:t>Links to resources:</a:t>
            </a:r>
          </a:p>
          <a:p>
            <a:pPr indent="-228600" algn="l">
              <a:buFont typeface="Arial" panose="020B0604020202020204" pitchFamily="34" charset="0"/>
              <a:buChar char="•"/>
            </a:pPr>
            <a:r>
              <a:rPr lang="en-US">
                <a:solidFill>
                  <a:schemeClr val="bg1"/>
                </a:solidFill>
                <a:hlinkClick r:id="rId4"/>
              </a:rPr>
              <a:t>https://youtu.be/O9v10jQkm5c</a:t>
            </a:r>
            <a:endParaRPr lang="en-US">
              <a:solidFill>
                <a:schemeClr val="bg1"/>
              </a:solidFill>
            </a:endParaRPr>
          </a:p>
          <a:p>
            <a:pPr indent="-228600" algn="l">
              <a:buFont typeface="Arial" panose="020B0604020202020204" pitchFamily="34" charset="0"/>
              <a:buChar char="•"/>
            </a:pPr>
            <a:r>
              <a:rPr lang="en-US">
                <a:solidFill>
                  <a:schemeClr val="bg1"/>
                </a:solidFill>
                <a:hlinkClick r:id="rId5"/>
              </a:rPr>
              <a:t>https://neetcode.io/practice/practice/neetcode150</a:t>
            </a:r>
            <a:endParaRPr lang="en-US">
              <a:solidFill>
                <a:schemeClr val="bg1"/>
              </a:solidFill>
            </a:endParaRPr>
          </a:p>
          <a:p>
            <a:pPr indent="-228600" algn="l">
              <a:buFont typeface="Arial" panose="020B0604020202020204" pitchFamily="34" charset="0"/>
              <a:buChar char="•"/>
            </a:pPr>
            <a:endParaRPr lang="en-US">
              <a:solidFill>
                <a:schemeClr val="bg1"/>
              </a:solidFill>
            </a:endParaRPr>
          </a:p>
        </p:txBody>
      </p:sp>
      <p:grpSp>
        <p:nvGrpSpPr>
          <p:cNvPr id="53"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54" name="Freeform: Shape 53">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80595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3CB563-3053-D6E7-E2A4-1FE8536101F9}"/>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EAED1919-54A1-41C9-B30B-A3FF3F58E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98104"/>
            <a:ext cx="4288094" cy="428809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letter on a blue background&#10;&#10;AI-generated content may be incorrect.">
            <a:extLst>
              <a:ext uri="{FF2B5EF4-FFF2-40B4-BE49-F238E27FC236}">
                <a16:creationId xmlns:a16="http://schemas.microsoft.com/office/drawing/2014/main" id="{08CF1C3C-5A8F-582E-C6D5-2E0BDC72E5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9471" y="941355"/>
            <a:ext cx="2601592" cy="2601592"/>
          </a:xfrm>
          <a:prstGeom prst="rect">
            <a:avLst/>
          </a:prstGeom>
        </p:spPr>
      </p:pic>
      <p:grpSp>
        <p:nvGrpSpPr>
          <p:cNvPr id="45" name="Group 44">
            <a:extLst>
              <a:ext uri="{FF2B5EF4-FFF2-40B4-BE49-F238E27FC236}">
                <a16:creationId xmlns:a16="http://schemas.microsoft.com/office/drawing/2014/main" id="{C4751043-2EE3-4222-9979-8E61D93DA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1848" y="2813300"/>
            <a:ext cx="3757487" cy="3757487"/>
            <a:chOff x="1881974" y="1174396"/>
            <a:chExt cx="5290997" cy="5290997"/>
          </a:xfrm>
        </p:grpSpPr>
        <p:sp>
          <p:nvSpPr>
            <p:cNvPr id="46" name="Oval 45">
              <a:extLst>
                <a:ext uri="{FF2B5EF4-FFF2-40B4-BE49-F238E27FC236}">
                  <a16:creationId xmlns:a16="http://schemas.microsoft.com/office/drawing/2014/main" id="{03FD8213-DB67-4E29-9615-984DB5991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84EDB257-28CF-422F-AE6A-B99E3FE81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9" name="Oval 48">
            <a:extLst>
              <a:ext uri="{FF2B5EF4-FFF2-40B4-BE49-F238E27FC236}">
                <a16:creationId xmlns:a16="http://schemas.microsoft.com/office/drawing/2014/main" id="{FFFEB18F-F81F-4CED-BE64-EB888A77C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350" y="2762501"/>
            <a:ext cx="3744592" cy="3744592"/>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B6E5ADC-D8A0-7994-404C-793DCD6B4AD4}"/>
              </a:ext>
            </a:extLst>
          </p:cNvPr>
          <p:cNvSpPr txBox="1">
            <a:spLocks/>
          </p:cNvSpPr>
          <p:nvPr/>
        </p:nvSpPr>
        <p:spPr>
          <a:xfrm>
            <a:off x="702591" y="3404608"/>
            <a:ext cx="3520789" cy="266608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400" kern="1200">
                <a:solidFill>
                  <a:schemeClr val="bg1"/>
                </a:solidFill>
                <a:latin typeface="+mj-lt"/>
                <a:ea typeface="+mj-ea"/>
                <a:cs typeface="+mj-cs"/>
              </a:rPr>
              <a:t>Useful shortcuts while coding!</a:t>
            </a:r>
          </a:p>
        </p:txBody>
      </p:sp>
      <p:grpSp>
        <p:nvGrpSpPr>
          <p:cNvPr id="51"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52" name="Freeform: Shape 51">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55"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56" name="Freeform: Shape 55">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0" name="Content Placeholder 2">
            <a:extLst>
              <a:ext uri="{FF2B5EF4-FFF2-40B4-BE49-F238E27FC236}">
                <a16:creationId xmlns:a16="http://schemas.microsoft.com/office/drawing/2014/main" id="{54942530-F3DD-D7C8-8A19-ACD0D040877C}"/>
              </a:ext>
            </a:extLst>
          </p:cNvPr>
          <p:cNvSpPr txBox="1">
            <a:spLocks/>
          </p:cNvSpPr>
          <p:nvPr/>
        </p:nvSpPr>
        <p:spPr>
          <a:xfrm>
            <a:off x="6465164" y="1593190"/>
            <a:ext cx="5714730" cy="31730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buFont typeface="Arial" panose="020B0604020202020204" pitchFamily="34" charset="0"/>
              <a:buChar char="•"/>
            </a:pPr>
            <a:r>
              <a:rPr lang="en-US" sz="1300" dirty="0">
                <a:solidFill>
                  <a:schemeClr val="bg1"/>
                </a:solidFill>
              </a:rPr>
              <a:t>CTRL+C – copy</a:t>
            </a:r>
          </a:p>
          <a:p>
            <a:pPr indent="-228600" algn="l">
              <a:buFont typeface="Arial" panose="020B0604020202020204" pitchFamily="34" charset="0"/>
              <a:buChar char="•"/>
            </a:pPr>
            <a:r>
              <a:rPr lang="en-US" sz="1300" dirty="0">
                <a:solidFill>
                  <a:schemeClr val="bg1"/>
                </a:solidFill>
              </a:rPr>
              <a:t>CTRL+V – paste</a:t>
            </a:r>
          </a:p>
          <a:p>
            <a:pPr indent="-228600" algn="l">
              <a:buFont typeface="Arial" panose="020B0604020202020204" pitchFamily="34" charset="0"/>
              <a:buChar char="•"/>
            </a:pPr>
            <a:r>
              <a:rPr lang="en-US" sz="1300" dirty="0">
                <a:solidFill>
                  <a:schemeClr val="bg1"/>
                </a:solidFill>
              </a:rPr>
              <a:t>CTRL+X – cut</a:t>
            </a:r>
          </a:p>
          <a:p>
            <a:pPr indent="-228600" algn="l">
              <a:buFont typeface="Arial" panose="020B0604020202020204" pitchFamily="34" charset="0"/>
              <a:buChar char="•"/>
            </a:pPr>
            <a:r>
              <a:rPr lang="en-US" sz="1300" dirty="0">
                <a:solidFill>
                  <a:schemeClr val="bg1"/>
                </a:solidFill>
              </a:rPr>
              <a:t>CTRL+S – save</a:t>
            </a:r>
          </a:p>
          <a:p>
            <a:pPr indent="-228600" algn="l">
              <a:buFont typeface="Arial" panose="020B0604020202020204" pitchFamily="34" charset="0"/>
              <a:buChar char="•"/>
            </a:pPr>
            <a:r>
              <a:rPr lang="en-US" sz="1300" dirty="0">
                <a:solidFill>
                  <a:schemeClr val="bg1"/>
                </a:solidFill>
              </a:rPr>
              <a:t>CTRL+Z – undo, CTRL+SHIFT+Z – redo</a:t>
            </a:r>
          </a:p>
          <a:p>
            <a:pPr indent="-228600" algn="l">
              <a:buFont typeface="Arial" panose="020B0604020202020204" pitchFamily="34" charset="0"/>
              <a:buChar char="•"/>
            </a:pPr>
            <a:r>
              <a:rPr lang="en-US" sz="1300" dirty="0">
                <a:solidFill>
                  <a:schemeClr val="bg1"/>
                </a:solidFill>
              </a:rPr>
              <a:t>CTRL+ left/right arrow keys – go forward or back a whole word.</a:t>
            </a:r>
          </a:p>
          <a:p>
            <a:pPr indent="-228600" algn="l">
              <a:buFont typeface="Arial" panose="020B0604020202020204" pitchFamily="34" charset="0"/>
              <a:buChar char="•"/>
            </a:pPr>
            <a:r>
              <a:rPr lang="en-US" sz="1300" dirty="0">
                <a:solidFill>
                  <a:schemeClr val="bg1"/>
                </a:solidFill>
              </a:rPr>
              <a:t>Home – start of line, End – end of line. TRY HOLDING SHIFT WHILE DOING THESE</a:t>
            </a:r>
          </a:p>
          <a:p>
            <a:pPr indent="-228600" algn="l">
              <a:buFont typeface="Arial" panose="020B0604020202020204" pitchFamily="34" charset="0"/>
              <a:buChar char="•"/>
            </a:pPr>
            <a:r>
              <a:rPr lang="en-US" sz="1300" dirty="0">
                <a:solidFill>
                  <a:schemeClr val="bg1"/>
                </a:solidFill>
              </a:rPr>
              <a:t>CTRL + enter – open a split window (have two files on the screen at once)</a:t>
            </a:r>
          </a:p>
          <a:p>
            <a:pPr indent="-228600" algn="l">
              <a:buFont typeface="Arial" panose="020B0604020202020204" pitchFamily="34" charset="0"/>
              <a:buChar char="•"/>
            </a:pPr>
            <a:r>
              <a:rPr lang="en-US" sz="1300" dirty="0">
                <a:solidFill>
                  <a:schemeClr val="bg1"/>
                </a:solidFill>
              </a:rPr>
              <a:t>This might seem like a lot to keep in mind, but the less you need to use your mouse, the faster you’ll be able to code.</a:t>
            </a:r>
          </a:p>
          <a:p>
            <a:pPr indent="-228600" algn="l">
              <a:buFont typeface="Arial" panose="020B0604020202020204" pitchFamily="34" charset="0"/>
              <a:buChar char="•"/>
            </a:pPr>
            <a:endParaRPr lang="en-US" sz="1300" dirty="0">
              <a:solidFill>
                <a:schemeClr val="bg1"/>
              </a:solidFill>
            </a:endParaRPr>
          </a:p>
        </p:txBody>
      </p:sp>
    </p:spTree>
    <p:extLst>
      <p:ext uri="{BB962C8B-B14F-4D97-AF65-F5344CB8AC3E}">
        <p14:creationId xmlns:p14="http://schemas.microsoft.com/office/powerpoint/2010/main" val="2532036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F12B1F-4753-46F8-93FC-1E4191C13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F9770F-1AD5-34A2-7575-F5713A37AE8D}"/>
              </a:ext>
            </a:extLst>
          </p:cNvPr>
          <p:cNvSpPr>
            <a:spLocks noGrp="1"/>
          </p:cNvSpPr>
          <p:nvPr>
            <p:ph type="title"/>
          </p:nvPr>
        </p:nvSpPr>
        <p:spPr>
          <a:xfrm>
            <a:off x="7050001" y="368625"/>
            <a:ext cx="4402039" cy="1403498"/>
          </a:xfrm>
        </p:spPr>
        <p:txBody>
          <a:bodyPr anchor="b">
            <a:normAutofit/>
          </a:bodyPr>
          <a:lstStyle/>
          <a:p>
            <a:r>
              <a:rPr lang="en-GB" sz="3600">
                <a:solidFill>
                  <a:schemeClr val="bg1"/>
                </a:solidFill>
              </a:rPr>
              <a:t>Setting Up Your Environment</a:t>
            </a:r>
          </a:p>
        </p:txBody>
      </p:sp>
      <p:pic>
        <p:nvPicPr>
          <p:cNvPr id="5" name="Picture 4">
            <a:extLst>
              <a:ext uri="{FF2B5EF4-FFF2-40B4-BE49-F238E27FC236}">
                <a16:creationId xmlns:a16="http://schemas.microsoft.com/office/drawing/2014/main" id="{00A0F77B-80A9-8DF3-025F-7BCD836B371B}"/>
              </a:ext>
            </a:extLst>
          </p:cNvPr>
          <p:cNvPicPr>
            <a:picLocks noChangeAspect="1"/>
          </p:cNvPicPr>
          <p:nvPr/>
        </p:nvPicPr>
        <p:blipFill>
          <a:blip r:embed="rId2"/>
          <a:stretch>
            <a:fillRect/>
          </a:stretch>
        </p:blipFill>
        <p:spPr>
          <a:xfrm>
            <a:off x="2056074" y="111137"/>
            <a:ext cx="2113201" cy="2113201"/>
          </a:xfrm>
          <a:prstGeom prst="rect">
            <a:avLst/>
          </a:prstGeom>
        </p:spPr>
      </p:pic>
      <p:sp>
        <p:nvSpPr>
          <p:cNvPr id="18" name="Freeform: Shape 17">
            <a:extLst>
              <a:ext uri="{FF2B5EF4-FFF2-40B4-BE49-F238E27FC236}">
                <a16:creationId xmlns:a16="http://schemas.microsoft.com/office/drawing/2014/main" id="{42AE8636-A04B-4C96-AA50-C956D51C0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125" y="-24223"/>
            <a:ext cx="3483100" cy="2909287"/>
          </a:xfrm>
          <a:custGeom>
            <a:avLst/>
            <a:gdLst>
              <a:gd name="connsiteX0" fmla="*/ 452171 w 3483100"/>
              <a:gd name="connsiteY0" fmla="*/ 0 h 2909287"/>
              <a:gd name="connsiteX1" fmla="*/ 3030929 w 3483100"/>
              <a:gd name="connsiteY1" fmla="*/ 0 h 2909287"/>
              <a:gd name="connsiteX2" fmla="*/ 3085415 w 3483100"/>
              <a:gd name="connsiteY2" fmla="*/ 59949 h 2909287"/>
              <a:gd name="connsiteX3" fmla="*/ 3483100 w 3483100"/>
              <a:gd name="connsiteY3" fmla="*/ 1167737 h 2909287"/>
              <a:gd name="connsiteX4" fmla="*/ 1741550 w 3483100"/>
              <a:gd name="connsiteY4" fmla="*/ 2909287 h 2909287"/>
              <a:gd name="connsiteX5" fmla="*/ 0 w 3483100"/>
              <a:gd name="connsiteY5" fmla="*/ 1167737 h 2909287"/>
              <a:gd name="connsiteX6" fmla="*/ 397685 w 3483100"/>
              <a:gd name="connsiteY6" fmla="*/ 59949 h 2909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3100" h="2909287">
                <a:moveTo>
                  <a:pt x="452171" y="0"/>
                </a:moveTo>
                <a:lnTo>
                  <a:pt x="3030929" y="0"/>
                </a:lnTo>
                <a:lnTo>
                  <a:pt x="3085415" y="59949"/>
                </a:lnTo>
                <a:cubicBezTo>
                  <a:pt x="3333857" y="360992"/>
                  <a:pt x="3483100" y="746936"/>
                  <a:pt x="3483100" y="1167737"/>
                </a:cubicBezTo>
                <a:cubicBezTo>
                  <a:pt x="3483100" y="2129569"/>
                  <a:pt x="2703382" y="2909287"/>
                  <a:pt x="1741550" y="2909287"/>
                </a:cubicBezTo>
                <a:cubicBezTo>
                  <a:pt x="779718" y="2909287"/>
                  <a:pt x="0" y="2129569"/>
                  <a:pt x="0" y="1167737"/>
                </a:cubicBezTo>
                <a:cubicBezTo>
                  <a:pt x="0" y="746936"/>
                  <a:pt x="149243" y="360992"/>
                  <a:pt x="397685" y="59949"/>
                </a:cubicBez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0"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5733" y="1193254"/>
            <a:ext cx="1291642" cy="429215"/>
            <a:chOff x="2504802" y="1755501"/>
            <a:chExt cx="1598829" cy="531293"/>
          </a:xfrm>
          <a:solidFill>
            <a:schemeClr val="bg1"/>
          </a:solidFill>
        </p:grpSpPr>
        <p:sp>
          <p:nvSpPr>
            <p:cNvPr id="21" name="Freeform: Shape 20">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pic>
        <p:nvPicPr>
          <p:cNvPr id="4" name="Picture 3" descr="A white letter on a blue background&#10;&#10;AI-generated content may be incorrect.">
            <a:extLst>
              <a:ext uri="{FF2B5EF4-FFF2-40B4-BE49-F238E27FC236}">
                <a16:creationId xmlns:a16="http://schemas.microsoft.com/office/drawing/2014/main" id="{93EA834A-432F-C9E4-6B37-A5B744233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10" y="3880857"/>
            <a:ext cx="2117387" cy="2117387"/>
          </a:xfrm>
          <a:prstGeom prst="rect">
            <a:avLst/>
          </a:prstGeom>
        </p:spPr>
      </p:pic>
      <p:pic>
        <p:nvPicPr>
          <p:cNvPr id="11" name="Graphic 10">
            <a:extLst>
              <a:ext uri="{FF2B5EF4-FFF2-40B4-BE49-F238E27FC236}">
                <a16:creationId xmlns:a16="http://schemas.microsoft.com/office/drawing/2014/main" id="{01FC7977-31E5-D2A7-81D0-2D47AF3714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51545" y="3484046"/>
            <a:ext cx="1958264" cy="1895767"/>
          </a:xfrm>
          <a:prstGeom prst="rect">
            <a:avLst/>
          </a:prstGeom>
        </p:spPr>
      </p:pic>
      <p:sp>
        <p:nvSpPr>
          <p:cNvPr id="3" name="Content Placeholder 2">
            <a:extLst>
              <a:ext uri="{FF2B5EF4-FFF2-40B4-BE49-F238E27FC236}">
                <a16:creationId xmlns:a16="http://schemas.microsoft.com/office/drawing/2014/main" id="{D85A22AF-9261-E94A-91D3-93267C379554}"/>
              </a:ext>
            </a:extLst>
          </p:cNvPr>
          <p:cNvSpPr>
            <a:spLocks noGrp="1"/>
          </p:cNvSpPr>
          <p:nvPr>
            <p:ph idx="1"/>
          </p:nvPr>
        </p:nvSpPr>
        <p:spPr>
          <a:xfrm>
            <a:off x="7050001" y="1958550"/>
            <a:ext cx="4402039" cy="4256886"/>
          </a:xfrm>
        </p:spPr>
        <p:txBody>
          <a:bodyPr anchor="t">
            <a:normAutofit/>
          </a:bodyPr>
          <a:lstStyle/>
          <a:p>
            <a:r>
              <a:rPr lang="en-GB" sz="1300" dirty="0">
                <a:solidFill>
                  <a:schemeClr val="bg1"/>
                </a:solidFill>
              </a:rPr>
              <a:t>Visual Studio Code gives you lots of flexibility and customisation abilities </a:t>
            </a:r>
          </a:p>
          <a:p>
            <a:r>
              <a:rPr lang="en-GB" sz="1300" dirty="0">
                <a:solidFill>
                  <a:schemeClr val="bg1"/>
                </a:solidFill>
              </a:rPr>
              <a:t>It also looks good</a:t>
            </a:r>
          </a:p>
          <a:p>
            <a:endParaRPr lang="en-GB" sz="1300" dirty="0">
              <a:solidFill>
                <a:schemeClr val="bg1"/>
              </a:solidFill>
            </a:endParaRPr>
          </a:p>
          <a:p>
            <a:r>
              <a:rPr lang="en-GB" sz="1300" dirty="0">
                <a:solidFill>
                  <a:schemeClr val="bg1"/>
                </a:solidFill>
              </a:rPr>
              <a:t>You can download this from </a:t>
            </a:r>
            <a:r>
              <a:rPr lang="en-GB" sz="1300" dirty="0">
                <a:solidFill>
                  <a:schemeClr val="bg1"/>
                </a:solidFill>
                <a:hlinkClick r:id="rId6"/>
              </a:rPr>
              <a:t>https://code.visualstudio.com/download</a:t>
            </a:r>
            <a:r>
              <a:rPr lang="en-GB" sz="1300" dirty="0">
                <a:solidFill>
                  <a:schemeClr val="bg1"/>
                </a:solidFill>
              </a:rPr>
              <a:t>! Or -&gt;</a:t>
            </a:r>
          </a:p>
          <a:p>
            <a:r>
              <a:rPr lang="en-GB" sz="1300" dirty="0">
                <a:solidFill>
                  <a:schemeClr val="bg1"/>
                </a:solidFill>
              </a:rPr>
              <a:t>Install process will vary slightly based on your OS (Windows, MacOS, Linux)</a:t>
            </a:r>
          </a:p>
          <a:p>
            <a:r>
              <a:rPr lang="en-GB" sz="1300" dirty="0">
                <a:solidFill>
                  <a:schemeClr val="bg1"/>
                </a:solidFill>
              </a:rPr>
              <a:t>The final step is to install a Python interpreter from:</a:t>
            </a:r>
          </a:p>
          <a:p>
            <a:pPr marL="0" indent="0">
              <a:buNone/>
            </a:pPr>
            <a:r>
              <a:rPr lang="en-GB" sz="1300" dirty="0">
                <a:solidFill>
                  <a:schemeClr val="bg1"/>
                </a:solidFill>
                <a:hlinkClick r:id="rId7"/>
              </a:rPr>
              <a:t>https://www.python.org/downloads/</a:t>
            </a:r>
            <a:r>
              <a:rPr lang="en-GB" sz="1300" dirty="0">
                <a:solidFill>
                  <a:schemeClr val="bg1"/>
                </a:solidFill>
              </a:rPr>
              <a:t> </a:t>
            </a:r>
          </a:p>
          <a:p>
            <a:pPr marL="0" indent="0">
              <a:buNone/>
            </a:pPr>
            <a:r>
              <a:rPr lang="en-GB" sz="1300" dirty="0">
                <a:solidFill>
                  <a:schemeClr val="bg1"/>
                </a:solidFill>
              </a:rPr>
              <a:t>MAKE SURE TO ADD TO PATH!</a:t>
            </a:r>
          </a:p>
          <a:p>
            <a:r>
              <a:rPr lang="en-GB" sz="1300" dirty="0">
                <a:solidFill>
                  <a:schemeClr val="bg1"/>
                </a:solidFill>
              </a:rPr>
              <a:t>You could also use PyCharm which is amazing for python, but VSCODE allows you to use other languages with intellisense and debugging via extensions!</a:t>
            </a:r>
          </a:p>
        </p:txBody>
      </p:sp>
      <p:sp>
        <p:nvSpPr>
          <p:cNvPr id="24" name="Freeform: Shape 23">
            <a:extLst>
              <a:ext uri="{FF2B5EF4-FFF2-40B4-BE49-F238E27FC236}">
                <a16:creationId xmlns:a16="http://schemas.microsoft.com/office/drawing/2014/main" id="{0F17DC65-D057-4CEA-8B52-BF72D5D90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168" y="3062222"/>
            <a:ext cx="3212182" cy="3665314"/>
          </a:xfrm>
          <a:custGeom>
            <a:avLst/>
            <a:gdLst>
              <a:gd name="connsiteX0" fmla="*/ 1379525 w 3212182"/>
              <a:gd name="connsiteY0" fmla="*/ 0 h 3665314"/>
              <a:gd name="connsiteX1" fmla="*/ 3212182 w 3212182"/>
              <a:gd name="connsiteY1" fmla="*/ 1832657 h 3665314"/>
              <a:gd name="connsiteX2" fmla="*/ 1379525 w 3212182"/>
              <a:gd name="connsiteY2" fmla="*/ 3665314 h 3665314"/>
              <a:gd name="connsiteX3" fmla="*/ 83641 w 3212182"/>
              <a:gd name="connsiteY3" fmla="*/ 3128542 h 3665314"/>
              <a:gd name="connsiteX4" fmla="*/ 0 w 3212182"/>
              <a:gd name="connsiteY4" fmla="*/ 3036514 h 3665314"/>
              <a:gd name="connsiteX5" fmla="*/ 0 w 3212182"/>
              <a:gd name="connsiteY5" fmla="*/ 628801 h 3665314"/>
              <a:gd name="connsiteX6" fmla="*/ 83641 w 3212182"/>
              <a:gd name="connsiteY6" fmla="*/ 536773 h 3665314"/>
              <a:gd name="connsiteX7" fmla="*/ 1379525 w 3212182"/>
              <a:gd name="connsiteY7" fmla="*/ 0 h 36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12182" h="3665314">
                <a:moveTo>
                  <a:pt x="1379525" y="0"/>
                </a:moveTo>
                <a:cubicBezTo>
                  <a:pt x="2391674" y="0"/>
                  <a:pt x="3212182" y="820508"/>
                  <a:pt x="3212182" y="1832657"/>
                </a:cubicBezTo>
                <a:cubicBezTo>
                  <a:pt x="3212182" y="2844806"/>
                  <a:pt x="2391674" y="3665314"/>
                  <a:pt x="1379525" y="3665314"/>
                </a:cubicBezTo>
                <a:cubicBezTo>
                  <a:pt x="873451" y="3665314"/>
                  <a:pt x="415286" y="3460187"/>
                  <a:pt x="83641" y="3128542"/>
                </a:cubicBezTo>
                <a:lnTo>
                  <a:pt x="0" y="3036514"/>
                </a:lnTo>
                <a:lnTo>
                  <a:pt x="0" y="628801"/>
                </a:lnTo>
                <a:lnTo>
                  <a:pt x="83641" y="536773"/>
                </a:lnTo>
                <a:cubicBezTo>
                  <a:pt x="415286" y="205127"/>
                  <a:pt x="873451" y="0"/>
                  <a:pt x="1379525" y="0"/>
                </a:cubicBez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35249834-544E-477E-84FD-888B8DB74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839" y="2791091"/>
            <a:ext cx="3281677" cy="32816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93339" y="1681703"/>
            <a:ext cx="1330536" cy="1330521"/>
            <a:chOff x="5734037" y="3067039"/>
            <a:chExt cx="724483" cy="724489"/>
          </a:xfrm>
          <a:solidFill>
            <a:schemeClr val="bg1"/>
          </a:solidFill>
        </p:grpSpPr>
        <p:sp>
          <p:nvSpPr>
            <p:cNvPr id="29" name="Freeform: Shape 28">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08471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EC6FEB-79F6-12C6-521C-FFABC65BE1A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EAED1919-54A1-41C9-B30B-A3FF3F58E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98104"/>
            <a:ext cx="4288094" cy="428809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letter on a blue background&#10;&#10;AI-generated content may be incorrect.">
            <a:extLst>
              <a:ext uri="{FF2B5EF4-FFF2-40B4-BE49-F238E27FC236}">
                <a16:creationId xmlns:a16="http://schemas.microsoft.com/office/drawing/2014/main" id="{FC313D15-2495-897B-AC94-AA4ACE1DFC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9471" y="941355"/>
            <a:ext cx="2601592" cy="2601592"/>
          </a:xfrm>
          <a:prstGeom prst="rect">
            <a:avLst/>
          </a:prstGeom>
        </p:spPr>
      </p:pic>
      <p:grpSp>
        <p:nvGrpSpPr>
          <p:cNvPr id="19" name="Group 18">
            <a:extLst>
              <a:ext uri="{FF2B5EF4-FFF2-40B4-BE49-F238E27FC236}">
                <a16:creationId xmlns:a16="http://schemas.microsoft.com/office/drawing/2014/main" id="{C4751043-2EE3-4222-9979-8E61D93DA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1848" y="2813300"/>
            <a:ext cx="3757487" cy="3757487"/>
            <a:chOff x="1881974" y="1174396"/>
            <a:chExt cx="5290997" cy="5290997"/>
          </a:xfrm>
        </p:grpSpPr>
        <p:sp>
          <p:nvSpPr>
            <p:cNvPr id="20" name="Oval 19">
              <a:extLst>
                <a:ext uri="{FF2B5EF4-FFF2-40B4-BE49-F238E27FC236}">
                  <a16:creationId xmlns:a16="http://schemas.microsoft.com/office/drawing/2014/main" id="{03FD8213-DB67-4E29-9615-984DB5991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4EDB257-28CF-422F-AE6A-B99E3FE81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Oval 22">
            <a:extLst>
              <a:ext uri="{FF2B5EF4-FFF2-40B4-BE49-F238E27FC236}">
                <a16:creationId xmlns:a16="http://schemas.microsoft.com/office/drawing/2014/main" id="{FFFEB18F-F81F-4CED-BE64-EB888A77C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350" y="2762501"/>
            <a:ext cx="3744592" cy="3744592"/>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F8634A07-2169-D8ED-7941-92D2F380C13E}"/>
              </a:ext>
            </a:extLst>
          </p:cNvPr>
          <p:cNvSpPr txBox="1">
            <a:spLocks/>
          </p:cNvSpPr>
          <p:nvPr/>
        </p:nvSpPr>
        <p:spPr>
          <a:xfrm>
            <a:off x="702591" y="3404608"/>
            <a:ext cx="3520789" cy="266608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400" kern="1200" dirty="0">
                <a:solidFill>
                  <a:schemeClr val="bg1"/>
                </a:solidFill>
                <a:latin typeface="+mj-lt"/>
                <a:ea typeface="+mj-ea"/>
                <a:cs typeface="+mj-cs"/>
              </a:rPr>
              <a:t>Extra Must Haves</a:t>
            </a:r>
          </a:p>
        </p:txBody>
      </p:sp>
      <p:grpSp>
        <p:nvGrpSpPr>
          <p:cNvPr id="25"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26" name="Freeform: Shape 25">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29"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30" name="Freeform: Shape 29">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0" name="Content Placeholder 2">
            <a:extLst>
              <a:ext uri="{FF2B5EF4-FFF2-40B4-BE49-F238E27FC236}">
                <a16:creationId xmlns:a16="http://schemas.microsoft.com/office/drawing/2014/main" id="{A9CCA57C-2B03-F9F4-B26A-58EE3A67AF42}"/>
              </a:ext>
            </a:extLst>
          </p:cNvPr>
          <p:cNvSpPr txBox="1">
            <a:spLocks/>
          </p:cNvSpPr>
          <p:nvPr/>
        </p:nvSpPr>
        <p:spPr>
          <a:xfrm>
            <a:off x="6477270" y="1130845"/>
            <a:ext cx="4974771" cy="537624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buFont typeface="Arial" panose="020B0604020202020204" pitchFamily="34" charset="0"/>
              <a:buChar char="•"/>
            </a:pPr>
            <a:r>
              <a:rPr lang="en-US" sz="1500" dirty="0">
                <a:solidFill>
                  <a:schemeClr val="bg1"/>
                </a:solidFill>
              </a:rPr>
              <a:t>A LinkedIn Account, use it to apply to internships and make connections (networking)</a:t>
            </a:r>
          </a:p>
          <a:p>
            <a:pPr indent="-228600" algn="l">
              <a:buFont typeface="Arial" panose="020B0604020202020204" pitchFamily="34" charset="0"/>
              <a:buChar char="•"/>
            </a:pPr>
            <a:r>
              <a:rPr lang="en-US" sz="1500" dirty="0">
                <a:solidFill>
                  <a:schemeClr val="bg1"/>
                </a:solidFill>
              </a:rPr>
              <a:t>A Personal GitHub account. Aim to have 2+ Projects that you are proud of on the front page of your repository. Even 1-2 is good enough but make sure the readme is well laid out and can instantly show the depth your project went into and your technical proficiency.</a:t>
            </a:r>
          </a:p>
          <a:p>
            <a:pPr indent="-228600" algn="l">
              <a:buFont typeface="Arial" panose="020B0604020202020204" pitchFamily="34" charset="0"/>
              <a:buChar char="•"/>
            </a:pPr>
            <a:r>
              <a:rPr lang="en-US" sz="1500" dirty="0">
                <a:solidFill>
                  <a:schemeClr val="bg1"/>
                </a:solidFill>
              </a:rPr>
              <a:t>Useful Skills for Industry:</a:t>
            </a:r>
          </a:p>
          <a:p>
            <a:pPr indent="-228600" algn="l">
              <a:buFont typeface="Arial" panose="020B0604020202020204" pitchFamily="34" charset="0"/>
              <a:buChar char="•"/>
            </a:pPr>
            <a:r>
              <a:rPr lang="en-US" sz="1500" dirty="0">
                <a:solidFill>
                  <a:schemeClr val="bg1"/>
                </a:solidFill>
              </a:rPr>
              <a:t>Using CI/CD (practice with GitHub Actions on your repo), other examples include Jenkins.</a:t>
            </a:r>
          </a:p>
          <a:p>
            <a:pPr indent="-228600" algn="l">
              <a:buFont typeface="Arial" panose="020B0604020202020204" pitchFamily="34" charset="0"/>
              <a:buChar char="•"/>
            </a:pPr>
            <a:r>
              <a:rPr lang="en-US" sz="1500" dirty="0">
                <a:solidFill>
                  <a:schemeClr val="bg1"/>
                </a:solidFill>
              </a:rPr>
              <a:t>Unit testing:</a:t>
            </a:r>
          </a:p>
          <a:p>
            <a:pPr indent="-228600" algn="l">
              <a:buFont typeface="Arial" panose="020B0604020202020204" pitchFamily="34" charset="0"/>
              <a:buChar char="•"/>
            </a:pPr>
            <a:r>
              <a:rPr lang="en-US" sz="1500" dirty="0">
                <a:solidFill>
                  <a:schemeClr val="bg1"/>
                </a:solidFill>
              </a:rPr>
              <a:t>A must have for industry and for your Degree. </a:t>
            </a:r>
          </a:p>
          <a:p>
            <a:pPr indent="-228600" algn="l">
              <a:buFont typeface="Arial" panose="020B0604020202020204" pitchFamily="34" charset="0"/>
              <a:buChar char="•"/>
            </a:pPr>
            <a:r>
              <a:rPr lang="en-US" sz="1500" dirty="0">
                <a:solidFill>
                  <a:schemeClr val="bg1"/>
                </a:solidFill>
              </a:rPr>
              <a:t>Data Structures and Algorithms (But you knew that already):</a:t>
            </a:r>
          </a:p>
          <a:p>
            <a:pPr indent="-228600" algn="l">
              <a:buFont typeface="Arial" panose="020B0604020202020204" pitchFamily="34" charset="0"/>
              <a:buChar char="•"/>
            </a:pPr>
            <a:r>
              <a:rPr lang="en-US" sz="1500" dirty="0">
                <a:solidFill>
                  <a:schemeClr val="bg1"/>
                </a:solidFill>
              </a:rPr>
              <a:t>While you might not be in a role that heavily relies on these algorithms, when you go to apply for competitive placements from companies you might like or have heard of, they will make you do an Online Assessment (OA) that will likely give you a medium-hard question. The reason isn’t necessarily that you will use it, but they use it to further shortlist the 1000+ applications they receive. </a:t>
            </a:r>
          </a:p>
        </p:txBody>
      </p:sp>
    </p:spTree>
    <p:extLst>
      <p:ext uri="{BB962C8B-B14F-4D97-AF65-F5344CB8AC3E}">
        <p14:creationId xmlns:p14="http://schemas.microsoft.com/office/powerpoint/2010/main" val="3717295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D62EAF-91C6-3901-8B56-4A6221378DF3}"/>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EAED1919-54A1-41C9-B30B-A3FF3F58E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98104"/>
            <a:ext cx="4288094" cy="428809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letter on a blue background&#10;&#10;AI-generated content may be incorrect.">
            <a:extLst>
              <a:ext uri="{FF2B5EF4-FFF2-40B4-BE49-F238E27FC236}">
                <a16:creationId xmlns:a16="http://schemas.microsoft.com/office/drawing/2014/main" id="{201D8D8B-57E6-02B2-126A-DBF8BD9BB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9471" y="941355"/>
            <a:ext cx="2601592" cy="2601592"/>
          </a:xfrm>
          <a:prstGeom prst="rect">
            <a:avLst/>
          </a:prstGeom>
        </p:spPr>
      </p:pic>
      <p:grpSp>
        <p:nvGrpSpPr>
          <p:cNvPr id="36" name="Group 35">
            <a:extLst>
              <a:ext uri="{FF2B5EF4-FFF2-40B4-BE49-F238E27FC236}">
                <a16:creationId xmlns:a16="http://schemas.microsoft.com/office/drawing/2014/main" id="{C4751043-2EE3-4222-9979-8E61D93DA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1848" y="2813300"/>
            <a:ext cx="3757487" cy="3757487"/>
            <a:chOff x="1881974" y="1174396"/>
            <a:chExt cx="5290997" cy="5290997"/>
          </a:xfrm>
        </p:grpSpPr>
        <p:sp>
          <p:nvSpPr>
            <p:cNvPr id="37" name="Oval 36">
              <a:extLst>
                <a:ext uri="{FF2B5EF4-FFF2-40B4-BE49-F238E27FC236}">
                  <a16:creationId xmlns:a16="http://schemas.microsoft.com/office/drawing/2014/main" id="{03FD8213-DB67-4E29-9615-984DB5991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4EDB257-28CF-422F-AE6A-B99E3FE81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0" name="Oval 39">
            <a:extLst>
              <a:ext uri="{FF2B5EF4-FFF2-40B4-BE49-F238E27FC236}">
                <a16:creationId xmlns:a16="http://schemas.microsoft.com/office/drawing/2014/main" id="{FFFEB18F-F81F-4CED-BE64-EB888A77C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350" y="2762501"/>
            <a:ext cx="3744592" cy="3744592"/>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73BDC43B-B998-09FA-CBF7-9DE756FB1C0F}"/>
              </a:ext>
            </a:extLst>
          </p:cNvPr>
          <p:cNvSpPr txBox="1">
            <a:spLocks/>
          </p:cNvSpPr>
          <p:nvPr/>
        </p:nvSpPr>
        <p:spPr>
          <a:xfrm>
            <a:off x="702591" y="3404608"/>
            <a:ext cx="3520789" cy="266608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4400" kern="1200" dirty="0">
                <a:solidFill>
                  <a:schemeClr val="bg1"/>
                </a:solidFill>
                <a:latin typeface="+mj-lt"/>
                <a:ea typeface="+mj-ea"/>
                <a:cs typeface="+mj-cs"/>
              </a:rPr>
              <a:t>Extra Resources</a:t>
            </a:r>
            <a:br>
              <a:rPr lang="en-US" sz="4400" kern="1200" dirty="0">
                <a:solidFill>
                  <a:schemeClr val="bg1"/>
                </a:solidFill>
                <a:latin typeface="+mj-lt"/>
                <a:ea typeface="+mj-ea"/>
                <a:cs typeface="+mj-cs"/>
              </a:rPr>
            </a:br>
            <a:endParaRPr lang="en-US" sz="4400" kern="1200" dirty="0">
              <a:solidFill>
                <a:schemeClr val="bg1"/>
              </a:solidFill>
              <a:latin typeface="+mj-lt"/>
              <a:ea typeface="+mj-ea"/>
              <a:cs typeface="+mj-cs"/>
            </a:endParaRPr>
          </a:p>
        </p:txBody>
      </p:sp>
      <p:grpSp>
        <p:nvGrpSpPr>
          <p:cNvPr id="4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43" name="Freeform: Shape 4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46"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47" name="Freeform: Shape 46">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8" name="Content Placeholder 2">
            <a:extLst>
              <a:ext uri="{FF2B5EF4-FFF2-40B4-BE49-F238E27FC236}">
                <a16:creationId xmlns:a16="http://schemas.microsoft.com/office/drawing/2014/main" id="{D3893C25-527F-F09F-DC4D-67A83ABE1B42}"/>
              </a:ext>
            </a:extLst>
          </p:cNvPr>
          <p:cNvSpPr txBox="1">
            <a:spLocks/>
          </p:cNvSpPr>
          <p:nvPr/>
        </p:nvSpPr>
        <p:spPr>
          <a:xfrm>
            <a:off x="6477270" y="1130846"/>
            <a:ext cx="4974771"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buFont typeface="Arial" panose="020B0604020202020204" pitchFamily="34" charset="0"/>
              <a:buChar char="•"/>
            </a:pPr>
            <a:r>
              <a:rPr lang="en-US" sz="1700" dirty="0">
                <a:solidFill>
                  <a:schemeClr val="bg1"/>
                </a:solidFill>
              </a:rPr>
              <a:t>Workshop GitHub Repo: </a:t>
            </a:r>
            <a:r>
              <a:rPr lang="en-US" sz="1700" dirty="0">
                <a:solidFill>
                  <a:schemeClr val="bg1"/>
                </a:solidFill>
                <a:hlinkClick r:id="rId3"/>
              </a:rPr>
              <a:t>https://github.com/NTUDevSoc/FYPythonWorkshop_26.11.2025</a:t>
            </a:r>
            <a:endParaRPr lang="en-US" sz="1700" dirty="0">
              <a:solidFill>
                <a:schemeClr val="bg1"/>
              </a:solidFill>
            </a:endParaRPr>
          </a:p>
          <a:p>
            <a:pPr indent="-228600" algn="l">
              <a:buFont typeface="Arial" panose="020B0604020202020204" pitchFamily="34" charset="0"/>
              <a:buChar char="•"/>
            </a:pPr>
            <a:endParaRPr lang="en-US" sz="1700" dirty="0">
              <a:solidFill>
                <a:schemeClr val="bg1"/>
              </a:solidFill>
            </a:endParaRPr>
          </a:p>
          <a:p>
            <a:pPr indent="-228600" algn="l">
              <a:buFont typeface="Arial" panose="020B0604020202020204" pitchFamily="34" charset="0"/>
              <a:buChar char="•"/>
            </a:pPr>
            <a:r>
              <a:rPr lang="en-US" sz="1700" dirty="0">
                <a:solidFill>
                  <a:schemeClr val="bg1"/>
                </a:solidFill>
              </a:rPr>
              <a:t>W3Schools (Python tutorial covering most python fundamentals): </a:t>
            </a:r>
            <a:r>
              <a:rPr lang="en-US" sz="1700" dirty="0">
                <a:solidFill>
                  <a:schemeClr val="bg1"/>
                </a:solidFill>
                <a:hlinkClick r:id="rId4"/>
              </a:rPr>
              <a:t>https://www.w3schools.com/python/</a:t>
            </a:r>
            <a:endParaRPr lang="en-US" sz="1700" dirty="0">
              <a:solidFill>
                <a:schemeClr val="bg1"/>
              </a:solidFill>
            </a:endParaRPr>
          </a:p>
          <a:p>
            <a:pPr indent="-228600" algn="l">
              <a:buFont typeface="Arial" panose="020B0604020202020204" pitchFamily="34" charset="0"/>
              <a:buChar char="•"/>
            </a:pPr>
            <a:r>
              <a:rPr lang="en-US" sz="1700" dirty="0">
                <a:solidFill>
                  <a:schemeClr val="bg1"/>
                </a:solidFill>
              </a:rPr>
              <a:t>Learn to touch type (childish program, but works): </a:t>
            </a:r>
            <a:r>
              <a:rPr lang="en-US" sz="1700" dirty="0">
                <a:solidFill>
                  <a:schemeClr val="bg1"/>
                </a:solidFill>
                <a:hlinkClick r:id="rId5"/>
              </a:rPr>
              <a:t>https://tinyurl.com/y2v3fam6/</a:t>
            </a:r>
            <a:endParaRPr lang="en-US" sz="1700" dirty="0">
              <a:solidFill>
                <a:schemeClr val="bg1"/>
              </a:solidFill>
            </a:endParaRPr>
          </a:p>
          <a:p>
            <a:pPr indent="-228600" algn="l">
              <a:buFont typeface="Arial" panose="020B0604020202020204" pitchFamily="34" charset="0"/>
              <a:buChar char="•"/>
            </a:pPr>
            <a:r>
              <a:rPr lang="en-US" sz="1700" dirty="0">
                <a:solidFill>
                  <a:schemeClr val="bg1"/>
                </a:solidFill>
              </a:rPr>
              <a:t>Monkey type:  </a:t>
            </a:r>
            <a:r>
              <a:rPr lang="en-US" sz="1700" dirty="0">
                <a:solidFill>
                  <a:schemeClr val="bg1"/>
                </a:solidFill>
                <a:hlinkClick r:id="rId6"/>
              </a:rPr>
              <a:t>https://monkeytype.com/</a:t>
            </a:r>
            <a:endParaRPr lang="en-US" sz="1700" dirty="0">
              <a:solidFill>
                <a:schemeClr val="bg1"/>
              </a:solidFill>
            </a:endParaRPr>
          </a:p>
          <a:p>
            <a:pPr indent="-228600" algn="l">
              <a:buFont typeface="Arial" panose="020B0604020202020204" pitchFamily="34" charset="0"/>
              <a:buChar char="•"/>
            </a:pPr>
            <a:r>
              <a:rPr lang="en-US" sz="1700" dirty="0">
                <a:solidFill>
                  <a:schemeClr val="bg1"/>
                </a:solidFill>
              </a:rPr>
              <a:t>Pytest tutorial: </a:t>
            </a:r>
            <a:r>
              <a:rPr lang="en-US" sz="1700" dirty="0">
                <a:solidFill>
                  <a:schemeClr val="bg1"/>
                </a:solidFill>
                <a:hlinkClick r:id="rId7"/>
              </a:rPr>
              <a:t>https://www.youtube.com/watch?v=cHYq1MRoyI0</a:t>
            </a:r>
            <a:endParaRPr lang="en-US" sz="1700" dirty="0">
              <a:solidFill>
                <a:schemeClr val="bg1"/>
              </a:solidFill>
            </a:endParaRPr>
          </a:p>
          <a:p>
            <a:pPr indent="-228600" algn="l">
              <a:buFont typeface="Arial" panose="020B0604020202020204" pitchFamily="34" charset="0"/>
              <a:buChar char="•"/>
            </a:pPr>
            <a:r>
              <a:rPr lang="en-US" sz="1700" dirty="0">
                <a:solidFill>
                  <a:schemeClr val="bg1"/>
                </a:solidFill>
              </a:rPr>
              <a:t>Free Code Camp DSA Tutorial:</a:t>
            </a:r>
          </a:p>
          <a:p>
            <a:pPr indent="-228600" algn="l">
              <a:buFont typeface="Arial" panose="020B0604020202020204" pitchFamily="34" charset="0"/>
              <a:buChar char="•"/>
            </a:pPr>
            <a:endParaRPr lang="en-US" sz="1700" dirty="0">
              <a:solidFill>
                <a:schemeClr val="bg1"/>
              </a:solidFill>
            </a:endParaRPr>
          </a:p>
        </p:txBody>
      </p:sp>
    </p:spTree>
    <p:extLst>
      <p:ext uri="{BB962C8B-B14F-4D97-AF65-F5344CB8AC3E}">
        <p14:creationId xmlns:p14="http://schemas.microsoft.com/office/powerpoint/2010/main" val="147203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C88F2-B958-A319-0E17-45661E41BC91}"/>
            </a:ext>
          </a:extLst>
        </p:cNvPr>
        <p:cNvGrpSpPr/>
        <p:nvPr/>
      </p:nvGrpSpPr>
      <p:grpSpPr>
        <a:xfrm>
          <a:off x="0" y="0"/>
          <a:ext cx="0" cy="0"/>
          <a:chOff x="0" y="0"/>
          <a:chExt cx="0" cy="0"/>
        </a:xfrm>
      </p:grpSpPr>
      <p:sp>
        <p:nvSpPr>
          <p:cNvPr id="220" name="Rectangle 219">
            <a:extLst>
              <a:ext uri="{FF2B5EF4-FFF2-40B4-BE49-F238E27FC236}">
                <a16:creationId xmlns:a16="http://schemas.microsoft.com/office/drawing/2014/main" id="{8B646C36-EEEC-4D52-8E8E-206F4CD8A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FE1D5D6F-C942-7B30-49F0-ED177B9CDC73}"/>
              </a:ext>
            </a:extLst>
          </p:cNvPr>
          <p:cNvSpPr txBox="1">
            <a:spLocks/>
          </p:cNvSpPr>
          <p:nvPr/>
        </p:nvSpPr>
        <p:spPr>
          <a:xfrm>
            <a:off x="677119" y="810623"/>
            <a:ext cx="4894428" cy="35701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en-US" sz="5400" kern="1200">
                <a:solidFill>
                  <a:schemeClr val="bg1"/>
                </a:solidFill>
                <a:latin typeface="+mj-lt"/>
                <a:ea typeface="+mj-ea"/>
                <a:cs typeface="+mj-cs"/>
              </a:rPr>
              <a:t>Thank you for coming!</a:t>
            </a:r>
          </a:p>
        </p:txBody>
      </p:sp>
      <p:grpSp>
        <p:nvGrpSpPr>
          <p:cNvPr id="222" name="Group 221">
            <a:extLst>
              <a:ext uri="{FF2B5EF4-FFF2-40B4-BE49-F238E27FC236}">
                <a16:creationId xmlns:a16="http://schemas.microsoft.com/office/drawing/2014/main" id="{B2EBBF56-923D-48A7-9F8F-86E33CFA3E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1655" y="673020"/>
            <a:ext cx="4833902" cy="5683329"/>
            <a:chOff x="1674895" y="1345036"/>
            <a:chExt cx="5428610" cy="4210939"/>
          </a:xfrm>
        </p:grpSpPr>
        <p:sp>
          <p:nvSpPr>
            <p:cNvPr id="223" name="Rectangle 222">
              <a:extLst>
                <a:ext uri="{FF2B5EF4-FFF2-40B4-BE49-F238E27FC236}">
                  <a16:creationId xmlns:a16="http://schemas.microsoft.com/office/drawing/2014/main" id="{A6D5794E-BC9E-4A8A-BB29-9A32C8F26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216175AF-13E0-4D14-8638-11BBE8359A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6" name="Rectangle 225">
            <a:extLst>
              <a:ext uri="{FF2B5EF4-FFF2-40B4-BE49-F238E27FC236}">
                <a16:creationId xmlns:a16="http://schemas.microsoft.com/office/drawing/2014/main" id="{8258443E-B333-44F4-8D49-1EAB1C1A4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50256" y="596822"/>
            <a:ext cx="4833901" cy="5653877"/>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8"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3427" y="1159624"/>
            <a:ext cx="1054466" cy="469689"/>
            <a:chOff x="9841624" y="4115729"/>
            <a:chExt cx="602169" cy="268223"/>
          </a:xfrm>
          <a:solidFill>
            <a:schemeClr val="bg1"/>
          </a:solidFill>
        </p:grpSpPr>
        <p:sp>
          <p:nvSpPr>
            <p:cNvPr id="229" name="Freeform: Shape 228">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pic>
        <p:nvPicPr>
          <p:cNvPr id="4" name="Picture 3" descr="A white letter on a blue background&#10;&#10;AI-generated content may be incorrect.">
            <a:extLst>
              <a:ext uri="{FF2B5EF4-FFF2-40B4-BE49-F238E27FC236}">
                <a16:creationId xmlns:a16="http://schemas.microsoft.com/office/drawing/2014/main" id="{F91C81BE-6D49-9673-CB74-936EDB39F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7629" y="1474182"/>
            <a:ext cx="3899155" cy="3899155"/>
          </a:xfrm>
          <a:prstGeom prst="rect">
            <a:avLst/>
          </a:prstGeom>
          <a:ln w="28575">
            <a:noFill/>
          </a:ln>
        </p:spPr>
      </p:pic>
      <p:sp>
        <p:nvSpPr>
          <p:cNvPr id="235" name="Graphic 212">
            <a:extLst>
              <a:ext uri="{FF2B5EF4-FFF2-40B4-BE49-F238E27FC236}">
                <a16:creationId xmlns:a16="http://schemas.microsoft.com/office/drawing/2014/main" id="{4FB204DF-284E-45F6-A017-79A4DF57B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24285" y="1286612"/>
            <a:ext cx="891445" cy="89144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37" name="Graphic 212">
            <a:extLst>
              <a:ext uri="{FF2B5EF4-FFF2-40B4-BE49-F238E27FC236}">
                <a16:creationId xmlns:a16="http://schemas.microsoft.com/office/drawing/2014/main" id="{EB8560A9-B281-46EB-A304-1E4A5A00D6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24285" y="1286612"/>
            <a:ext cx="891445" cy="89144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39" name="Oval 238">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56" y="5416520"/>
            <a:ext cx="419129" cy="419129"/>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41" name="Oval 240">
            <a:extLst>
              <a:ext uri="{FF2B5EF4-FFF2-40B4-BE49-F238E27FC236}">
                <a16:creationId xmlns:a16="http://schemas.microsoft.com/office/drawing/2014/main" id="{667882DD-56E8-460E-99D5-86E71982D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56" y="5416520"/>
            <a:ext cx="419129" cy="419129"/>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830198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5b4f887-ac80-4857-b647-5e7260330f7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95097599262AD4DB09BF82296AD2CF6" ma:contentTypeVersion="10" ma:contentTypeDescription="Create a new document." ma:contentTypeScope="" ma:versionID="9f64b65638d02a5ef66119b1d106be99">
  <xsd:schema xmlns:xsd="http://www.w3.org/2001/XMLSchema" xmlns:xs="http://www.w3.org/2001/XMLSchema" xmlns:p="http://schemas.microsoft.com/office/2006/metadata/properties" xmlns:ns3="e5b4f887-ac80-4857-b647-5e7260330f7d" targetNamespace="http://schemas.microsoft.com/office/2006/metadata/properties" ma:root="true" ma:fieldsID="1f52ac05a8f6a53e169b691986226def" ns3:_="">
    <xsd:import namespace="e5b4f887-ac80-4857-b647-5e7260330f7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4f887-ac80-4857-b647-5e7260330f7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247915-7398-433D-AF19-D4675440ECEB}">
  <ds:schemaRefs>
    <ds:schemaRef ds:uri="http://purl.org/dc/terms/"/>
    <ds:schemaRef ds:uri="http://schemas.microsoft.com/office/2006/documentManagement/types"/>
    <ds:schemaRef ds:uri="http://schemas.microsoft.com/office/2006/metadata/properties"/>
    <ds:schemaRef ds:uri="http://www.w3.org/XML/1998/namespace"/>
    <ds:schemaRef ds:uri="http://purl.org/dc/dcmitype/"/>
    <ds:schemaRef ds:uri="e5b4f887-ac80-4857-b647-5e7260330f7d"/>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D4BACB04-5C44-4F82-82C5-45FBFD1BE1CB}">
  <ds:schemaRefs>
    <ds:schemaRef ds:uri="http://schemas.microsoft.com/sharepoint/v3/contenttype/forms"/>
  </ds:schemaRefs>
</ds:datastoreItem>
</file>

<file path=customXml/itemProps3.xml><?xml version="1.0" encoding="utf-8"?>
<ds:datastoreItem xmlns:ds="http://schemas.openxmlformats.org/officeDocument/2006/customXml" ds:itemID="{A2BD8DC8-850E-43CD-AEE2-7767967147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4f887-ac80-4857-b647-5e7260330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82</TotalTime>
  <Words>553</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Structures &amp; Algorithms Workshop</vt:lpstr>
      <vt:lpstr>PowerPoint Presentation</vt:lpstr>
      <vt:lpstr>Setting Up Your Environment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Neo Hamilton 2024 (N1274561)</dc:creator>
  <cp:lastModifiedBy>Neo Hamilton 2024 (N1274561)</cp:lastModifiedBy>
  <cp:revision>6</cp:revision>
  <dcterms:created xsi:type="dcterms:W3CDTF">2026-03-21T19:37:39Z</dcterms:created>
  <dcterms:modified xsi:type="dcterms:W3CDTF">2026-03-27T10:28:01Z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0x010100E95097599262AD4DB09BF82296AD2CF6</vt:lpwstr>
  </property>
</Properties>
</file>